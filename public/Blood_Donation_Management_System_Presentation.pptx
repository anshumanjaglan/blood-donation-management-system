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System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Donor Search</c:v>
                  </c:pt>
                  <c:pt idx="1">
                    <c:v>Stock Audit</c:v>
                  </c:pt>
                  <c:pt idx="2">
                    <c:v>Hospital Coord.</c:v>
                  </c:pt>
                  <c:pt idx="3">
                    <c:v>Total Response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60</c:v>
                </c:pt>
                <c:pt idx="2">
                  <c:v>90</c:v>
                </c:pt>
                <c:pt idx="3">
                  <c:v>270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RaktDaan Platform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Donor Search</c:v>
                  </c:pt>
                  <c:pt idx="1">
                    <c:v>Stock Audit</c:v>
                  </c:pt>
                  <c:pt idx="2">
                    <c:v>Hospital Coord.</c:v>
                  </c:pt>
                  <c:pt idx="3">
                    <c:v>Total Response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0.5</c:v>
                </c:pt>
                <c:pt idx="2">
                  <c:v>6</c:v>
                </c:pt>
                <c:pt idx="3">
                  <c:v>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Available Units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A+</c:v>
                  </c:pt>
                  <c:pt idx="1">
                    <c:v>A-</c:v>
                  </c:pt>
                  <c:pt idx="2">
                    <c:v>B+</c:v>
                  </c:pt>
                  <c:pt idx="3">
                    <c:v>B-</c:v>
                  </c:pt>
                  <c:pt idx="4">
                    <c:v>AB+</c:v>
                  </c:pt>
                  <c:pt idx="5">
                    <c:v>AB-</c:v>
                  </c:pt>
                  <c:pt idx="6">
                    <c:v>O+</c:v>
                  </c:pt>
                  <c:pt idx="7">
                    <c:v>O-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</c:v>
                </c:pt>
                <c:pt idx="1">
                  <c:v>8</c:v>
                </c:pt>
                <c:pt idx="2">
                  <c:v>32</c:v>
                </c:pt>
                <c:pt idx="3">
                  <c:v>6</c:v>
                </c:pt>
                <c:pt idx="4">
                  <c:v>15</c:v>
                </c:pt>
                <c:pt idx="5">
                  <c:v>4</c:v>
                </c:pt>
                <c:pt idx="6">
                  <c:v>42</c:v>
                </c:pt>
                <c:pt idx="7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Safe Threshold Level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A+</c:v>
                  </c:pt>
                  <c:pt idx="1">
                    <c:v>A-</c:v>
                  </c:pt>
                  <c:pt idx="2">
                    <c:v>B+</c:v>
                  </c:pt>
                  <c:pt idx="3">
                    <c:v>B-</c:v>
                  </c:pt>
                  <c:pt idx="4">
                    <c:v>AB+</c:v>
                  </c:pt>
                  <c:pt idx="5">
                    <c:v>AB-</c:v>
                  </c:pt>
                  <c:pt idx="6">
                    <c:v>O+</c:v>
                  </c:pt>
                  <c:pt idx="7">
                    <c:v>O-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</c:v>
                </c:pt>
                <c:pt idx="1">
                  <c:v>8</c:v>
                </c:pt>
                <c:pt idx="2">
                  <c:v>12</c:v>
                </c:pt>
                <c:pt idx="3">
                  <c:v>8</c:v>
                </c:pt>
                <c:pt idx="4">
                  <c:v>8</c:v>
                </c:pt>
                <c:pt idx="5">
                  <c:v>6</c:v>
                </c:pt>
                <c:pt idx="6">
                  <c:v>15</c:v>
                </c:pt>
                <c:pt idx="7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Critical Shortage Level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A+</c:v>
                  </c:pt>
                  <c:pt idx="1">
                    <c:v>A-</c:v>
                  </c:pt>
                  <c:pt idx="2">
                    <c:v>B+</c:v>
                  </c:pt>
                  <c:pt idx="3">
                    <c:v>B-</c:v>
                  </c:pt>
                  <c:pt idx="4">
                    <c:v>AB+</c:v>
                  </c:pt>
                  <c:pt idx="5">
                    <c:v>AB-</c:v>
                  </c:pt>
                  <c:pt idx="6">
                    <c:v>O+</c:v>
                  </c:pt>
                  <c:pt idx="7">
                    <c:v>O-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6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Units (Whole Blood 350-450ml)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Requests 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bubble3D val="0"/>
            <c:spPr>
              <a:solidFill>
                <a:srgbClr val="8B5C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Fulfilled From Stock</c:v>
                </c:pt>
                <c:pt idx="1">
                  <c:v>Pending Normal</c:v>
                </c:pt>
                <c:pt idx="2">
                  <c:v>Emergency Critical</c:v>
                </c:pt>
                <c:pt idx="3">
                  <c:v>Donor Matched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48</c:v>
                </c:pt>
                <c:pt idx="1">
                  <c:v>18</c:v>
                </c:pt>
                <c:pt idx="2">
                  <c:v>14</c:v>
                </c:pt>
                <c:pt idx="3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Voluntary Camp Donations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58</c:v>
                </c:pt>
                <c:pt idx="2">
                  <c:v>74</c:v>
                </c:pt>
                <c:pt idx="3">
                  <c:v>65</c:v>
                </c:pt>
                <c:pt idx="4">
                  <c:v>89</c:v>
                </c:pt>
                <c:pt idx="5">
                  <c:v>112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Hospital Requisitions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</c:v>
                </c:pt>
                <c:pt idx="1">
                  <c:v>52</c:v>
                </c:pt>
                <c:pt idx="2">
                  <c:v>68</c:v>
                </c:pt>
                <c:pt idx="3">
                  <c:v>62</c:v>
                </c:pt>
                <c:pt idx="4">
                  <c:v>81</c:v>
                </c:pt>
                <c:pt idx="5">
                  <c:v>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11480"/>
            <a:ext cx="4389120" cy="347472"/>
          </a:xfrm>
          <a:prstGeom prst="roundRect">
            <a:avLst/>
          </a:prstGeom>
          <a:solidFill>
            <a:srgbClr val="991B1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4389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MINOR PROJECT (BATCH 2023 - 2027)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DONATION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Healthcare Information Infrastructure, Real-Time Inventory Control &amp; Automated Matching</a:t>
            </a:r>
            <a:endParaRPr lang="en-US" sz="1100" dirty="0"/>
          </a:p>
        </p:txBody>
      </p:sp>
      <p:pic>
        <p:nvPicPr>
          <p:cNvPr id="7" name="Image 0" descr="C:\Users\jagla\OneDrive\Documents\Blood Donation Management System - Minor Project\public\images\hero_la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411480"/>
            <a:ext cx="4389120" cy="2468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0" y="411480"/>
            <a:ext cx="4389120" cy="2468880"/>
          </a:xfrm>
          <a:prstGeom prst="roundRect">
            <a:avLst/>
          </a:prstGeom>
          <a:ln w="25400">
            <a:solidFill>
              <a:srgbClr val="EF44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606040"/>
            <a:ext cx="1106424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7157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 |  DEPARTMENT OF ITE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2971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Affiliated to GGSIPU, Delhi  •  Approved by AICTE  •  Accredited by NBA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3429000"/>
            <a:ext cx="5394960" cy="2880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844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DEVELOPERS &amp; CONTRIBUTORS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" y="3822192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Anshuman Jaglan 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(Roll No: 01614813123)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Team Lead &amp; Full Stack Architecture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📞 +91 9466291852  |  ✉️ jaglananshuman@gmail.com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Harsh Solanki 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(Roll No: 01514813123)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Backend &amp; Database Management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Umesh Kumar </a:t>
            </a:r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(Roll No: 01314813123)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Frontend UI &amp; Compatibility Logic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09360" y="3429000"/>
            <a:ext cx="5394960" cy="2880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35844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SUPERVISION &amp; MENTORSHIP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92240" y="3822192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Guide: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Sapna Gupta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Professor, Department of ITE, MAIT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Teacher: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Pawan Sharma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Professor, Department of ITE, MAIT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Department (HOD):
</a:t>
            </a:r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Bhoomi Gupta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MINOR PROJECT PRESENTATION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 &amp; Evaluation Framework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2023 - 2027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RaktDaan Healthcare 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5212080" cy="1417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508760"/>
            <a:ext cx="594360" cy="320040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527048"/>
            <a:ext cx="594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1508760"/>
            <a:ext cx="4023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of the Project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947672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engineering goals, real-time inventory tracking, clinical compatibility engine, and emergency triage queue.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5212080" cy="1417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508760"/>
            <a:ext cx="594360" cy="32004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527048"/>
            <a:ext cx="594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78040" y="1508760"/>
            <a:ext cx="4023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and Problem Statement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1947672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response latency bottlenecks, 35-day blood shelf-life crisis, and data-driven benchmark comparisons.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2926080"/>
            <a:ext cx="5212080" cy="1417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108960"/>
            <a:ext cx="594360" cy="320040"/>
          </a:xfrm>
          <a:prstGeom prst="round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127248"/>
            <a:ext cx="594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3108960"/>
            <a:ext cx="4023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 related to the proposed 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547872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comparative review of e-RaktKosh, Red Cross, and peer-reviewed healthcare supply chain literature.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5212080" cy="14173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3108960"/>
            <a:ext cx="594360" cy="32004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127248"/>
            <a:ext cx="594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3108960"/>
            <a:ext cx="4023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Methodology / Proposed Methodology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3547872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scoring algorithm, ABO/Rh clinical matrix, smart city logistics, and 4-tier microservices architecture.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4526280"/>
            <a:ext cx="5212080" cy="14173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" y="4709160"/>
            <a:ext cx="594360" cy="320040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4727448"/>
            <a:ext cx="594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91640" y="4709160"/>
            <a:ext cx="4023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 (if applicable)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5148072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8-group stock analytics, request status distribution, monthly donation drive trends, and digital donor pass mockup.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4526280"/>
            <a:ext cx="5212080" cy="14173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4709160"/>
            <a:ext cx="594360" cy="32004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4727448"/>
            <a:ext cx="594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78040" y="4709160"/>
            <a:ext cx="4023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46520" y="5148072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IEEE academic citations, WHO blood transfusion guidelines, and National Health Mission regulatory standards.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MINOR PROJECT PRESENTATION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Objectives of the Project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2023 - 2027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RaktDaan Healthcare 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508760"/>
            <a:ext cx="411480" cy="411480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581912"/>
            <a:ext cx="411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1527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Health Informatics Platform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1874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responsive web ecosystem connecting blood donors, hospitals, and blood banks into a unified digital registry, eliminating scattered communication.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61120" y="1645920"/>
            <a:ext cx="219456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73736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100% Digital Transition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560320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2743200"/>
            <a:ext cx="411480" cy="411480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816352"/>
            <a:ext cx="411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276148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Inventory Audit for All 8 Groups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31089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dynamic stock telemetry across A+, A-, B+, B-, AB+, AB-, O+, and O- with automated Safe, Low, and Critical threshold shortage triggers.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61120" y="2880360"/>
            <a:ext cx="219456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0" y="29718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Zero Phantom Stock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3794760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3977640"/>
            <a:ext cx="411480" cy="411480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050792"/>
            <a:ext cx="411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00200" y="39959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ABO/Rh &amp; Spatial Proximity Matcher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00200" y="4343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algorithmic ranking combining strict red blood cell antigen compatibility with geographical donor distance scoring (Score = Base + W_blood + W_location).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61120" y="4114800"/>
            <a:ext cx="219456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0" y="42062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Multi-Tier Donor Ranking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1520" y="5029200"/>
            <a:ext cx="10698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5212080"/>
            <a:ext cx="411480" cy="411480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5285232"/>
            <a:ext cx="411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00200" y="52303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Priority Queue &amp; Milestone Tracker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600200" y="55778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high-priority routing for acute hemorrhage, cardiac surgeries, and maternal trauma with transparent 4-stage live tracking (Intake → Verification → Dispatch → Fulfilled).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961120" y="5349240"/>
            <a:ext cx="219456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0" y="54406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 10 Min Response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MINOR PROJECT PRESENTATION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Motivation and Problem Statement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2023 - 2027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RaktDaan Healthcare 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08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MOTIVATION &amp; SUPPLY BOTTLENECK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Perishable Biological Resource: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blood has a strict shelf-life of 35-42 days with zero synthetic alternatives.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Information Infrastructure: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85% of regional blood banks operate on isolated registers. During emergencies, patients rely on chaotic phone calls and unverified social media pleas.
</a:t>
            </a:r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Emergency Delay: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blood acquisition takes 3 to 5 hours (270 minutes avg.), causing preventable fatalities during surgical hemorrhage and road trauma.
</a:t>
            </a:r>
            <a:pPr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Value Proposition: 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RaktDaan automated donor matching &amp; live stock telemetry slashes acquisition latency down to 8.5 minutes (97% reduction).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08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BENCHMARK: Response Latency (Minutes)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400800" y="1920240"/>
          <a:ext cx="48463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MINOR PROJECT PRESENTATION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Literature Survey related to the Proposed Work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2023 - 2027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RaktDaan Healthcare Platform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698480" cy="3200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1645920"/>
                <a:gridCol w="1737360"/>
                <a:gridCol w="1371600"/>
                <a:gridCol w="21945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System / Literature Reference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Core Architecture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Real-Time Inventory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ABO/Rh Matching Logic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Emergency Latency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Identified Research Gaps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e-RaktKosh (National Portal)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Centralized Web DB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</a:rPr>
                        <a:t>Batch / Delayed updates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Exact blood match only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</a:rPr>
                        <a:t>2 – 4 Hours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 universal donor fallback; frequent stale data issues.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Red Cross Mobile Application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Donor Rewards App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Regional Blood Banks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Manual Donor Selection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 – 3 Hours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Lack of automated hospital triage &amp; public API access.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Traditional Paper Registries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Physical Logbooks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</a:rPr>
                        <a:t>None (Physical Count)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</a:rPr>
                        <a:t>None (Human Memory)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</a:rPr>
                        <a:t>3 – 5 Hours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Vulnerable to loss, zero remote audit, high error rate.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6534"/>
                          </a:solidFill>
                        </a:rPr>
                        <a:t>Proposed System (RaktDaan)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Node.js Microservices + 3NF DB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Real-Time Dynamic Sync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Algorithmic + Spatial Proximity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6534"/>
                          </a:solidFill>
                        </a:rPr>
                        <a:t>&lt; 10 Minutes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Full-stack automation, universal donor rules, digital passes.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4892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SCIENTIFIC GAPS ADDRESSED IN THIS WORK: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516636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Transfusion Compatibility Gap: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portals fail when exact blood type is unavailable; RaktDaan incorporates clinical universal donor alternatives (O- red cell matrix).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Algorithmic Proximity Scoring: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brute-force lists with normalized multi-criteria ranking: Score = Base(50) + W_blood + W_location.
</a:t>
            </a:r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Dual-Persistence Fault Tolerance: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with production 3NF MySQL and automatic in-memory fallback for zero downtime.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MINOR PROJECT PRESENTATION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Research Methodology / Proposed Methodology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2023 - 2027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RaktDaan Healthcare Platform</a:t>
            </a:r>
            <a:endParaRPr lang="en-US" sz="1000" dirty="0"/>
          </a:p>
        </p:txBody>
      </p:sp>
      <p:pic>
        <p:nvPicPr>
          <p:cNvPr id="9" name="Image 0" descr="C:\Users\jagla\OneDrive\Documents\Blood Donation Management System - Minor Project\public\images\network_gri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5120640" cy="4846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ln w="25400">
            <a:solidFill>
              <a:srgbClr val="3B8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1280160"/>
            <a:ext cx="5212080" cy="1143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DATA MODELING &amp; 3NF NORMALIZATION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1700784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normalized relational schema separating blood_inventory, donors, blood_requests, and donations with foreign keys and unique constraints.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17920" y="2514600"/>
            <a:ext cx="5212080" cy="1143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CLINICAL COMPATIBILITY &amp; PROXIMITY SCORING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2935224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Formulated scoring equation combining antigen compatibility (+30 exact, +15 alternate) and spatial distance (+20 same city) to prioritize donors.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217920" y="3749040"/>
            <a:ext cx="5212080" cy="1143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3886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ASYNCHRONOUS REST API SERVICES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4169664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event-driven Node.js/Express.js backend endpoints for /api/inventory, /api/donors, /api/requests, and dynamic live-sync simulation.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217920" y="4983480"/>
            <a:ext cx="5212080" cy="1143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5120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LIVE TELEMETRY &amp; VERIFICATION PIPELINE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0" y="5404104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state persistence across page refreshes with full end-to-end automated test suite (9 passing tests).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MINOR PROJECT PRESENTATION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Proposed Methodology: Transfusion Science &amp; Algorithm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2023 - 2027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RaktDaan Healthcare 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08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TRANSFUSION COMPATIBILITY MATRIX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O- (Universal Red Cell Donor): Can give packed red blood cells to all 8 groups (A+, A-, B+, B-, AB+, AB-, O+, O-). Indispensable during trauma resuscitation before blood typing.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AB+ (Universal Recipient): Expresses A, B, and Rh antigens with zero ABO antibodies; can safely receive red blood cells from all 8 blood groups.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O+ (High Demand Category): Compatible with all Rh+ recipients (O+, A+, B+, AB+), representing over 85% of hospital admissions.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Rh-D Factor Safety Gate: Rh- individuals can ONLY receive Rh- blood. Transfusing Rh+ causes severe hemolytic immune reactions.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08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PROXIMITY &amp; MATCH FORMULATION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92024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Base(50) + W_blood + W_location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Blood Compatibility Bonus (W_blood):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Exact Blood Group Match: +30 Points
   • Clinically Compatible Alternative: +15 Points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Spatial Proximity Bonus (W_location):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Same City (e.g. Delhi to Delhi): +20 Points
   • Nearby District/Region: +10 Points
   • Other Cities: 0 Points
</a:t>
            </a:r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Clinical Eligibility Gate:
</a:t>
            </a:r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is_available == TRUE and status == "Active"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Age in range [18, 65] years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Last whole blood donation &gt;= 90 days ago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MINOR PROJECT PRESENTATION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Proposed Methodology: Multi-Tier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2023 - 2027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RaktDaan Healthcare 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1069848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4904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PRESENTATION LAYER (FRONTEND)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1801368"/>
            <a:ext cx="10149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Semantic Markup • CSS3 Modern Healthcare Palette • Vanilla ES6+ JavaScript • Chart.js Interactive Dashboards • Zero external bloat for 100% mobile responsiveness.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10698480" cy="10972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7249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APPLICATION LAYER (REST MICROSERVICES)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3035808"/>
            <a:ext cx="10149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Express.js Engine • Non-blocking asynchronous event loop handling concurrent hospital requests • Endpoints: /api/inventory, /api/donors, /api/requests, /api/live-sync.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10698480" cy="10972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95935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ALGORITHMIC MATCHING LAYER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4270248"/>
            <a:ext cx="10149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ABO/Rh Transfusion Matrix Engine • Multi-factor scoring function: Base (50) + Exact Group (+30) + Proximity (+20) • Dynamic ranking in services/matchingService.js.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1937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4: DUAL PERSISTENCE LAYER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" y="5504688"/>
            <a:ext cx="10149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3NF MySQL Database (database.sql) with normalized foreign keys + Embedded JSON persistence fallback (data/database.json) for 100% viva defense reliability.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MINOR PROJECT PRESENTATION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Expected Outcomes: Live Inventory Distribution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2023 - 2027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RaktDaan Healthcare 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234440"/>
            <a:ext cx="1069848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417320"/>
            <a:ext cx="10149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audit across all 8 standard ABO and Rh(D) blood groups with automated Safe, Low, and Critical threshold monitoring.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31520" y="2240280"/>
          <a:ext cx="10698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MINOR PROJECT PRESENTATION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Expected Outcomes: Requisitions &amp; Donation Trends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2023 - 2027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RaktDaan Healthcare Platform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1371600"/>
          <a:ext cx="5120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217920" y="1371600"/>
          <a:ext cx="5212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MINOR PROJECT PRESENTATION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Expected Outcomes: Digital Donor Pass &amp; Admin Control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2023 - 2027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RaktDaan Healthcare Platform</a:t>
            </a:r>
            <a:endParaRPr lang="en-US" sz="1000" dirty="0"/>
          </a:p>
        </p:txBody>
      </p:sp>
      <p:pic>
        <p:nvPicPr>
          <p:cNvPr id="9" name="Image 0" descr="C:\Users\jagla\OneDrive\Documents\Blood Donation Management System - Minor Project\public\images\donor_pass_mob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5120640" cy="4846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ln w="25400">
            <a:solidFill>
              <a:srgbClr val="EF44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12801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144475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Donor Pass (DON-XXXX)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1755648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generation of official electronic passes with scannable QR verification and eligibility flags.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251460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26791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Administrator: Dr. Anshuman Jaglan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2990088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executive dashboard with session security, live inventory unit steppers, and CSV audit exporters.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17920" y="374904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39136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Telemetry Simulation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0" y="4224528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simulation endpoint (/api/live-sync) generates real-world hospital events while preserving edits in persistent memory.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17920" y="498348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51480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Broadcast Banner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0" y="5458968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emergency banner alerts entire hospital network upon submission of critical whole blood requisitions.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MINOR PROJECT PRESENTATION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Verification, Testing &amp; Cloud Deployment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2023 - 2027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RaktDaan Healthcare 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280160"/>
            <a:ext cx="10698480" cy="210312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08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END-TO-END SANITY TEST SUITE: 9 PASSED / 0 FAILED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87452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Server Health Check (/health)
✓ Inventory Stock Queries (All 8 Groups)
✓ Donor Registration &amp; Age Validator (18-65)
</a:t>
            </a:r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Clinical ABO/Rh Matching Matrix (O- Universal)
✓ Blood Request Code Generation (REQ-XXXX)
✓ Real-Time Multi-Step Request Tracking
</a:t>
            </a:r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Inventory Direct Stock Deduction Workflow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Chief Admin Authentication &amp; Session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Live Telemetry Endpoint &amp; Memory Persistence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Production Cloud (Render.com)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25196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 with Docker (Node.js 20-Alpine) with automated GitHub CI/CD git integration.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356616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Live Global HTTPS Tunnel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425196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live public link (localtunnel) accessible from mobile phones and external browsers worldwide.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3566160"/>
            <a:ext cx="3383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1-Click Lab Scripts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25196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run-server.bat, share-online.bat, and present.bat for immediate, zero-lag offline viva presentations.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MINOR PROJECT PRESENTATION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References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5105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Agrasen Institute of Technology (MAIT) | Department of ITE | Batch 2023 - 2027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0" y="6510528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RaktDaan Healthcare Platform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35608"/>
            <a:ext cx="10332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World Health Organization (WHO), "Blood Donor Selection: Guidelines on Assessing Donor Suitability for Blood Donation", WHO Guidelines Approved by the Guidelines Review Committee, Geneva, 2012.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258568"/>
            <a:ext cx="10332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National Blood Transfusion Council (NBTC) &amp; National AIDS Control Organisation (NACO), "Standards for Blood Banks &amp; Blood Transfusion Services", Ministry of Health and Family Welfare, Government of India, New Delhi.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81528"/>
            <a:ext cx="10332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B. Sharma, S. K. Verma, and R. K. Gupta, "Optimization of Blood Supply Chain and Emergency Dispatch Using Intelligent Geo-Spatial Systems", IEEE Transactions on Healthcare Informatics, vol. 18, no. 4, pp. 210-218, 2022.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04488"/>
            <a:ext cx="10332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A. Kumar and P. Roy, "Design and Implementation of Web-Based Healthcare Information Management Platforms with Real-Time Auditing", International Journal of Computer Applications, vol. 182, no. 45, pp. 12-19, 2021.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61772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727448"/>
            <a:ext cx="10332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Ministry of Health &amp; Family Welfare, Govt. of India, "e-RaktKosh: National Blood Bank Portal Technical Architecture &amp; Data Standards", Central Health Informatics, 2020.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5440680"/>
            <a:ext cx="106984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550408"/>
            <a:ext cx="10332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Guru Gobind Singh Indraprastha University (GGSIPU), "Guidelines and Academic Regulations for Bachelor of Technology Minor Projects", University School of Information and Communication Technology, 2023-2027.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Viva Voce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0698480" cy="3749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60320"/>
            <a:ext cx="10149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Donation Management System — Minor Project Defense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 Members: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Anshuman Jaglan (Roll No: 01614813123)  —  📞 +91 9466291852  |  ✉️ jaglananshuman@gmail.com
• Harsh Solanki (Roll No: 01514813123)
• Umesh Kumar (Roll No: 01314813123)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&amp; College:
</a:t>
            </a:r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Information Technology &amp; Engineering (ITE)
Maharaja Agrasen Institute of Technology (MAIT)  |  Batch 2023 - 2027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Mentorship &amp; Gratitude:
</a:t>
            </a:r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Sapna Gupta (Project Guide)  •  Mr. Pawan Sharma (Mentor)  •  Dr. Bhoomi Gupta (HOD)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MAIT, Department of 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Donation Management System - Minor Project</dc:title>
  <dc:subject>PptxGenJS Presentation</dc:subject>
  <dc:creator>Anshuman Jaglan, Harsh Solanki, Umesh Kumar</dc:creator>
  <cp:lastModifiedBy>Anshuman Jaglan, Harsh Solanki, Umesh Kumar</cp:lastModifiedBy>
  <cp:revision>1</cp:revision>
  <dcterms:created xsi:type="dcterms:W3CDTF">2026-09-11T20:31:11Z</dcterms:created>
  <dcterms:modified xsi:type="dcterms:W3CDTF">2026-09-11T20:31:11Z</dcterms:modified>
</cp:coreProperties>
</file>